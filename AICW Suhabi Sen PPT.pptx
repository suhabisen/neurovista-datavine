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C2AB648-2B9C-45DD-BAF8-E337796C9EF2}">
          <p14:sldIdLst>
            <p14:sldId id="268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5014DA-3876-4902-976E-3F5ECB789221}" v="80" dt="2026-04-12T16:55:09.5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101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habi Sen" userId="35df0f3f1ec7b79d" providerId="LiveId" clId="{4C323D2B-C7B9-45BD-A381-D63B94576F39}"/>
    <pc:docChg chg="custSel modSld">
      <pc:chgData name="Suhabi Sen" userId="35df0f3f1ec7b79d" providerId="LiveId" clId="{4C323D2B-C7B9-45BD-A381-D63B94576F39}" dt="2026-04-12T17:19:53.967" v="0" actId="21"/>
      <pc:docMkLst>
        <pc:docMk/>
      </pc:docMkLst>
      <pc:sldChg chg="delSp mod delAnim">
        <pc:chgData name="Suhabi Sen" userId="35df0f3f1ec7b79d" providerId="LiveId" clId="{4C323D2B-C7B9-45BD-A381-D63B94576F39}" dt="2026-04-12T17:19:53.967" v="0" actId="21"/>
        <pc:sldMkLst>
          <pc:docMk/>
          <pc:sldMk cId="0" sldId="263"/>
        </pc:sldMkLst>
        <pc:picChg chg="del">
          <ac:chgData name="Suhabi Sen" userId="35df0f3f1ec7b79d" providerId="LiveId" clId="{4C323D2B-C7B9-45BD-A381-D63B94576F39}" dt="2026-04-12T17:19:53.967" v="0" actId="21"/>
          <ac:picMkLst>
            <pc:docMk/>
            <pc:sldMk cId="0" sldId="263"/>
            <ac:picMk id="2" creationId="{EB6F7D48-06D7-4314-DD87-C4FCD9EBFE7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https://drive.google.com/file/d/1DiJiLFEGla6qFs8znknrmt70lVH1aiVa/view?usp=drive_lin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4344" y="3176217"/>
            <a:ext cx="4440106" cy="431080"/>
            <a:chOff x="0" y="2985846"/>
            <a:chExt cx="4271648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42622" cy="431080"/>
              <a:chOff x="0" y="-38100"/>
              <a:chExt cx="4374698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18856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2239" y="3141421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76138" y="3753111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54979" y="3867590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 Sen 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29808" y="3722127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35411" y="3749515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33330" y="3858044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suhabisen@gmail.com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678486" y="3722667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54979" y="4378589"/>
            <a:ext cx="2278351" cy="347506"/>
            <a:chOff x="3134219" y="4336795"/>
            <a:chExt cx="2278351" cy="347506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4219" y="4336795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6EFB0EF-7703-7494-23F3-447E8212E82C}"/>
              </a:ext>
            </a:extLst>
          </p:cNvPr>
          <p:cNvSpPr/>
          <p:nvPr/>
        </p:nvSpPr>
        <p:spPr>
          <a:xfrm>
            <a:off x="4664" y="2903363"/>
            <a:ext cx="4148704" cy="2949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96B73C-492C-D291-96B8-E43E14C8FAA2}"/>
              </a:ext>
            </a:extLst>
          </p:cNvPr>
          <p:cNvSpPr txBox="1"/>
          <p:nvPr/>
        </p:nvSpPr>
        <p:spPr>
          <a:xfrm>
            <a:off x="173754" y="2982081"/>
            <a:ext cx="38542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625783-92B2-DC5B-8FD1-37C543601D33}"/>
              </a:ext>
            </a:extLst>
          </p:cNvPr>
          <p:cNvSpPr txBox="1"/>
          <p:nvPr/>
        </p:nvSpPr>
        <p:spPr>
          <a:xfrm>
            <a:off x="382205" y="2861506"/>
            <a:ext cx="3794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NeuroVista</a:t>
            </a:r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DataVine</a:t>
            </a:r>
            <a:r>
              <a:rPr lang="en-US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endParaRPr lang="en-IN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459713"/>
            <a:ext cx="8229600" cy="458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15008" y="877751"/>
            <a:ext cx="8382949" cy="4175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addresses the challenges of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Skill-mismatch, Credential Inflation, Ghost Hiring, Disguised Unemployment, Re-training and Return to education, Estimation Bias and Industry- Education gap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Primary Beneficiaries and Stakeholders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</a:t>
            </a:r>
            <a:r>
              <a:rPr lang="en-IN" sz="1400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seekers, professionals, Hiring Managers and HR teams and Students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 and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Secondary Beneficiaries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</a:t>
            </a:r>
            <a:r>
              <a:rPr lang="en-IN" sz="1400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Career Counsellors, Educators, Economic and Workforce Analysts).</a:t>
            </a:r>
            <a:endParaRPr lang="en-US" sz="1400" dirty="0"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 </a:t>
            </a:r>
            <a:r>
              <a:rPr lang="en-IN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primary objective - 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develop a data-driven analytical framework to evaluate and interpret the data science job market, with a focus on improving transparency, compensation alignment, and workforce decision-making to ensure that all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stakeholders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including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Students, Professionals, Educators, Employers and HR teams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maximise their productivity through mutual cooperation</a:t>
            </a:r>
            <a:endParaRPr lang="en-US" sz="1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Tools and Technologies</a:t>
            </a:r>
            <a:r>
              <a:rPr lang="en-US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-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Excel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Power BI, Power BI Q&amp;A Visual</a:t>
            </a:r>
            <a:r>
              <a:rPr lang="en-IN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Copilot Studio 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Expected Outcomes </a:t>
            </a:r>
            <a:r>
              <a:rPr lang="en-US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- The project is designed to deliver both </a:t>
            </a:r>
            <a:r>
              <a:rPr lang="en-US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technical outputs</a:t>
            </a:r>
            <a:r>
              <a:rPr lang="en-US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and </a:t>
            </a:r>
            <a:r>
              <a:rPr lang="en-US" sz="1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strategic insights</a:t>
            </a:r>
            <a:r>
              <a:rPr lang="en-US" sz="1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that are useful for multiple stakeholders, including job seekers, organizations, and policymakers.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highlight>
                  <a:srgbClr val="FFFF00"/>
                </a:highligh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Key Highlights- </a:t>
            </a:r>
            <a:r>
              <a:rPr lang="en-US" sz="1400" dirty="0"/>
              <a:t>Integration of Analytics with Conversational AI, Focus on Socio-Economic Impact, Not Just Data, Bridging the Gap Between Data and Decision-Making, Bridging the Gap Between Data and Decision-Making</a:t>
            </a:r>
            <a:r>
              <a:rPr lang="en-US" sz="1400" b="1" dirty="0"/>
              <a:t>, </a:t>
            </a:r>
            <a:r>
              <a:rPr lang="en-IN" sz="1400" dirty="0"/>
              <a:t>User-Centric Design for Non-Technical Accessibility, </a:t>
            </a:r>
            <a:r>
              <a:rPr lang="en-US" sz="1400" dirty="0"/>
              <a:t>Prompt Engineering as a Functional Component, </a:t>
            </a:r>
            <a:r>
              <a:rPr lang="en-IN" sz="1400" dirty="0"/>
              <a:t>Interdisciplinary Approach (Economics + Data Analytics), Interdisciplinary Approach (Economics + Data Analytics)</a:t>
            </a:r>
            <a:endParaRPr lang="en-US" sz="1400" b="1" dirty="0"/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8352674" y="516229"/>
            <a:ext cx="791326" cy="723044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932" y="3606978"/>
            <a:ext cx="1574581" cy="1374086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47734" y="1027263"/>
            <a:ext cx="8875643" cy="410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/>
              <a:t>The </a:t>
            </a:r>
            <a:r>
              <a:rPr lang="en-IN" b="1" dirty="0"/>
              <a:t>core problem </a:t>
            </a:r>
            <a:r>
              <a:rPr lang="en-IN" dirty="0"/>
              <a:t>addressed in this project is the </a:t>
            </a:r>
            <a:r>
              <a:rPr lang="en-IN" b="1" dirty="0"/>
              <a:t>lack of structured, reliable, and actionable insights from raw job market data</a:t>
            </a:r>
            <a:r>
              <a:rPr lang="en-IN" dirty="0"/>
              <a:t>, particularly in the data science domain. Job postings datasets are often highly unstructured, containing inconsistencies. 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/>
              <a:t>This problem is significant because it directly affects </a:t>
            </a:r>
            <a:r>
              <a:rPr lang="en-IN" b="1" dirty="0"/>
              <a:t>strategic human resource management and organizational competitiveness</a:t>
            </a:r>
            <a:r>
              <a:rPr lang="en-IN" dirty="0"/>
              <a:t>.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/>
              <a:t>Stakeholders- HR Professionals and Talent Acquisition Teams, Business Decision-Makers and Executives, Recruitment Agencies, Students, Job Seekers, Career Counsellors and Educators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/>
              <a:t>Limitations- Lack of Integrated Analytical Frameworks, Static and Non-Interactive Reporting, Limited Predictive Capabilities, Accessibility Challenges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Scope- </a:t>
            </a:r>
            <a:r>
              <a:rPr lang="en-IN" b="1" dirty="0"/>
              <a:t>Data Cleaning and Preprocessing, Data Visualization and Dashboard Development, KPI Development and Business Analysis, Scenario-Based Salary Prediction, NLP-Based Query Interface.  </a:t>
            </a: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145145"/>
            <a:ext cx="4172193" cy="3576166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946692"/>
            <a:ext cx="8289607" cy="23639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IN" sz="1600" b="1" dirty="0"/>
              <a:t>Approach:</a:t>
            </a:r>
            <a:endParaRPr lang="en-IN" sz="1600" dirty="0"/>
          </a:p>
          <a:p>
            <a:r>
              <a:rPr lang="en-IN" sz="1600" dirty="0"/>
              <a:t>Data Structuring → AI Analysis → Dashboard Insights → AI Assistant </a:t>
            </a:r>
          </a:p>
          <a:p>
            <a:r>
              <a:rPr lang="en-IN" sz="1600" b="1" dirty="0"/>
              <a:t>Core Value:</a:t>
            </a:r>
            <a:endParaRPr lang="en-IN" sz="1600" dirty="0"/>
          </a:p>
          <a:p>
            <a:r>
              <a:rPr lang="en-IN" sz="1600" dirty="0"/>
              <a:t>Converts fragmented job data into </a:t>
            </a:r>
            <a:r>
              <a:rPr lang="en-IN" sz="1600" b="1" dirty="0"/>
              <a:t>actionable intelligence</a:t>
            </a:r>
            <a:r>
              <a:rPr lang="en-IN" sz="1600" dirty="0"/>
              <a:t> </a:t>
            </a:r>
          </a:p>
          <a:p>
            <a:r>
              <a:rPr lang="en-IN" sz="1600" b="1" dirty="0"/>
              <a:t>Impact:</a:t>
            </a:r>
            <a:endParaRPr lang="en-IN" sz="1600" dirty="0"/>
          </a:p>
          <a:p>
            <a:r>
              <a:rPr lang="en-IN" sz="1600" dirty="0"/>
              <a:t>Individual: Career guidance </a:t>
            </a:r>
          </a:p>
          <a:p>
            <a:r>
              <a:rPr lang="en-IN" sz="1600" dirty="0"/>
              <a:t>Organizational: Better hiring decisions </a:t>
            </a:r>
          </a:p>
          <a:p>
            <a:r>
              <a:rPr lang="en-IN" sz="1600" dirty="0"/>
              <a:t>Societal: Reduced skill gap &amp; improved workforce alignment</a:t>
            </a:r>
          </a:p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99CEDB-26C4-8DDB-9CDD-777E221E2295}"/>
              </a:ext>
            </a:extLst>
          </p:cNvPr>
          <p:cNvSpPr txBox="1"/>
          <p:nvPr/>
        </p:nvSpPr>
        <p:spPr>
          <a:xfrm>
            <a:off x="125486" y="3000308"/>
            <a:ext cx="834961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Innovations of the Proposed Solution</a:t>
            </a:r>
          </a:p>
          <a:p>
            <a:r>
              <a:rPr lang="en-US" dirty="0"/>
              <a:t>Combines </a:t>
            </a:r>
            <a:r>
              <a:rPr lang="en-US" b="1" dirty="0"/>
              <a:t>data analytics + AI + human-centric design</a:t>
            </a:r>
            <a:r>
              <a:rPr lang="en-US" dirty="0"/>
              <a:t> </a:t>
            </a:r>
          </a:p>
          <a:p>
            <a:r>
              <a:rPr lang="en-US" dirty="0"/>
              <a:t>Uses </a:t>
            </a:r>
            <a:r>
              <a:rPr lang="en-US" b="1" dirty="0"/>
              <a:t>low-cost, widely accessible tools</a:t>
            </a:r>
            <a:r>
              <a:rPr lang="en-US" dirty="0"/>
              <a:t> </a:t>
            </a:r>
          </a:p>
          <a:p>
            <a:r>
              <a:rPr lang="en-US" dirty="0"/>
              <a:t>Bridges </a:t>
            </a:r>
            <a:r>
              <a:rPr lang="en-US" b="1" dirty="0"/>
              <a:t>education–employment gap</a:t>
            </a:r>
            <a:r>
              <a:rPr lang="en-US" dirty="0"/>
              <a:t> </a:t>
            </a:r>
          </a:p>
          <a:p>
            <a:r>
              <a:rPr lang="en-US" dirty="0"/>
              <a:t>Enables </a:t>
            </a:r>
            <a:r>
              <a:rPr lang="en-US" b="1" dirty="0"/>
              <a:t>real-time, personalized insights</a:t>
            </a:r>
            <a:r>
              <a:rPr lang="en-US" dirty="0"/>
              <a:t> </a:t>
            </a:r>
          </a:p>
          <a:p>
            <a:r>
              <a:rPr lang="en-US" dirty="0"/>
              <a:t>Promotes </a:t>
            </a:r>
            <a:r>
              <a:rPr lang="en-US" b="1" dirty="0"/>
              <a:t>transparent employer–employee communication</a:t>
            </a:r>
            <a:endParaRPr lang="en-US" dirty="0"/>
          </a:p>
          <a:p>
            <a:endParaRPr lang="en-IN" dirty="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4138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2365" y="778963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53713" y="778963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5908" y="81363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4731" y="1178091"/>
            <a:ext cx="4114800" cy="130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/>
              <a:t>Raw job postings dataset collected in </a:t>
            </a:r>
            <a:r>
              <a:rPr lang="en-US" sz="1200" b="1" dirty="0"/>
              <a:t>Excel / CSV format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Data sourced from publicly available job platforms and curated datasets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Initial issues: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Missing values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Inconsistent salary formats ($, K)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Duplicate records</a:t>
            </a:r>
          </a:p>
          <a:p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01078" y="77640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584268" y="77640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52443" y="8112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365" y="279382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53713" y="279382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2799" y="283040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5408" y="3570053"/>
            <a:ext cx="3790980" cy="6604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47989" y="279382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592923" y="279382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00216" y="2794251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A499B8-CF77-CA20-2F55-5C09D3674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23165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983D3C-9999-5423-EAF9-811BBA1E93EC}"/>
              </a:ext>
            </a:extLst>
          </p:cNvPr>
          <p:cNvSpPr txBox="1"/>
          <p:nvPr/>
        </p:nvSpPr>
        <p:spPr>
          <a:xfrm>
            <a:off x="4572000" y="1181857"/>
            <a:ext cx="402336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Data cleaning performed using: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Excel formulas (TRIM, SUBSTITUTE, IFERROR)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Power Query for transformation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Handling null and duplicate values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Analytical processing using: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DAX measures (Average Salary, Job Count, Demand Index)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KPI creation for business insights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Scenario-based salary prediction using parameter-driven models </a:t>
            </a:r>
          </a:p>
          <a:p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0F7F55-D181-70F5-AA95-A6985AC71CD7}"/>
              </a:ext>
            </a:extLst>
          </p:cNvPr>
          <p:cNvSpPr txBox="1"/>
          <p:nvPr/>
        </p:nvSpPr>
        <p:spPr>
          <a:xfrm>
            <a:off x="185908" y="3242134"/>
            <a:ext cx="37909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Microsoft Excel → Data cleaning &amp; structuring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Microsoft Power BI → Dashboard &amp; analytics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Microsoft Copilot Studio → AI Agent (</a:t>
            </a:r>
            <a:r>
              <a:rPr lang="en-US" altLang="en-US" sz="1100" dirty="0" err="1">
                <a:latin typeface="Arial" panose="020B0604020202020204" pitchFamily="34" charset="0"/>
              </a:rPr>
              <a:t>NeuroVista</a:t>
            </a:r>
            <a:r>
              <a:rPr lang="en-US" altLang="en-US" sz="1100" dirty="0">
                <a:latin typeface="Arial" panose="020B0604020202020204" pitchFamily="34" charset="0"/>
              </a:rPr>
              <a:t> Assistant)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AI capabilities: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Natural Language Query (Q&amp;A)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Automated insight generation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Skill gap and salary interpretation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26B3FE-52D1-D7E2-C59F-A067D7141A8F}"/>
              </a:ext>
            </a:extLst>
          </p:cNvPr>
          <p:cNvSpPr txBox="1"/>
          <p:nvPr/>
        </p:nvSpPr>
        <p:spPr>
          <a:xfrm>
            <a:off x="4572000" y="2927900"/>
            <a:ext cx="447963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Interactive dashboards in Power BI featuring: Salary Analysis (Avg, Min, Max), Job Market Trends (Location &amp; Industry), Company Insights (Rating vs Salary), Skill Demand Analysis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Features: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Slicers and filters for dynamic exploration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KPI cards for quick insights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Visual storytelling through charts and maps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AI Output: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Conversational insights via chatbot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100" dirty="0">
                <a:latin typeface="Arial" panose="020B0604020202020204" pitchFamily="34" charset="0"/>
              </a:rPr>
              <a:t>Instant answers to user queries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1: </a:t>
            </a:r>
            <a:r>
              <a:rPr lang="en-IN" sz="1600" dirty="0"/>
              <a:t>Salary Analysis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200479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554583" y="2439317"/>
            <a:ext cx="2420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2: </a:t>
            </a:r>
            <a:r>
              <a:rPr lang="en-IN" sz="1600" b="1" dirty="0"/>
              <a:t>AI Chatbot (</a:t>
            </a:r>
            <a:r>
              <a:rPr lang="en-IN" sz="1600" b="1" dirty="0" err="1"/>
              <a:t>NeuroVista</a:t>
            </a:r>
            <a:r>
              <a:rPr lang="en-IN" sz="1600" b="1" dirty="0"/>
              <a:t> Assistant)</a:t>
            </a:r>
          </a:p>
        </p:txBody>
      </p:sp>
      <p:sp>
        <p:nvSpPr>
          <p:cNvPr id="16" name="Text 14"/>
          <p:cNvSpPr/>
          <p:nvPr/>
        </p:nvSpPr>
        <p:spPr>
          <a:xfrm>
            <a:off x="3389990" y="3192173"/>
            <a:ext cx="2490026" cy="1416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000" b="1" dirty="0"/>
              <a:t>Description:</a:t>
            </a:r>
            <a:endParaRPr lang="en-US" sz="1000" dirty="0"/>
          </a:p>
          <a:p>
            <a:pPr algn="just"/>
            <a:r>
              <a:rPr lang="en-US" sz="1000" dirty="0"/>
              <a:t>Demonstrates AI-powered interaction using chatbot </a:t>
            </a:r>
          </a:p>
          <a:p>
            <a:pPr algn="just"/>
            <a:r>
              <a:rPr lang="en-US" sz="1000" b="1" dirty="0"/>
              <a:t>Key Features:</a:t>
            </a:r>
            <a:endParaRPr lang="en-US" sz="1000" dirty="0"/>
          </a:p>
          <a:p>
            <a:pPr algn="just"/>
            <a:r>
              <a:rPr lang="en-US" sz="1000" dirty="0"/>
              <a:t>Natural language queries </a:t>
            </a:r>
          </a:p>
          <a:p>
            <a:pPr algn="just"/>
            <a:r>
              <a:rPr lang="en-US" sz="1000" dirty="0"/>
              <a:t>Instant responses based on dataset </a:t>
            </a:r>
          </a:p>
          <a:p>
            <a:pPr algn="just"/>
            <a:r>
              <a:rPr lang="en-US" sz="1000" dirty="0"/>
              <a:t>Context-aware answers </a:t>
            </a:r>
          </a:p>
          <a:p>
            <a:pPr algn="just"/>
            <a:r>
              <a:rPr lang="en-US" sz="1000" b="1" dirty="0"/>
              <a:t>Result Achieved:</a:t>
            </a:r>
            <a:endParaRPr lang="en-US" sz="1000" dirty="0"/>
          </a:p>
          <a:p>
            <a:pPr algn="just"/>
            <a:r>
              <a:rPr lang="en-US" sz="1000" dirty="0"/>
              <a:t>Reduced analysis time </a:t>
            </a:r>
          </a:p>
          <a:p>
            <a:pPr algn="just"/>
            <a:r>
              <a:rPr lang="en-US" sz="1000" dirty="0"/>
              <a:t>Improved accessibility for non-technical users</a:t>
            </a:r>
          </a:p>
          <a:p>
            <a:pPr marL="0" indent="0" algn="just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3: </a:t>
            </a:r>
            <a:r>
              <a:rPr lang="en-IN" sz="1600" dirty="0"/>
              <a:t>Salary Prediction Model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9E258A-16CF-DA6B-C874-833BEF7B289B}"/>
              </a:ext>
            </a:extLst>
          </p:cNvPr>
          <p:cNvSpPr txBox="1"/>
          <p:nvPr/>
        </p:nvSpPr>
        <p:spPr>
          <a:xfrm>
            <a:off x="487065" y="2823273"/>
            <a:ext cx="231770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000" b="1" dirty="0"/>
              <a:t>Description:</a:t>
            </a:r>
            <a:endParaRPr lang="en-US" sz="1000" dirty="0"/>
          </a:p>
          <a:p>
            <a:pPr algn="just"/>
            <a:r>
              <a:rPr lang="en-US" sz="1000" dirty="0"/>
              <a:t>Displays </a:t>
            </a:r>
            <a:r>
              <a:rPr lang="en-US" sz="1000" b="1" dirty="0"/>
              <a:t>average, minimum, and maximum salary trends</a:t>
            </a:r>
            <a:r>
              <a:rPr lang="en-US" sz="1000" dirty="0"/>
              <a:t> </a:t>
            </a:r>
          </a:p>
          <a:p>
            <a:pPr algn="just"/>
            <a:r>
              <a:rPr lang="en-US" sz="1000" b="1" dirty="0"/>
              <a:t>Key Features:</a:t>
            </a:r>
            <a:endParaRPr lang="en-US" sz="1000" dirty="0"/>
          </a:p>
          <a:p>
            <a:pPr algn="just"/>
            <a:r>
              <a:rPr lang="en-US" sz="1000" dirty="0"/>
              <a:t>KPI Cards (Avg Salary, Job Count) </a:t>
            </a:r>
          </a:p>
          <a:p>
            <a:pPr algn="just"/>
            <a:r>
              <a:rPr lang="en-US" sz="1000" dirty="0"/>
              <a:t>Bar Charts for salary comparison </a:t>
            </a:r>
          </a:p>
          <a:p>
            <a:pPr algn="just"/>
            <a:r>
              <a:rPr lang="en-US" sz="1000" dirty="0"/>
              <a:t>Dynamic slicers for real-time filtering </a:t>
            </a:r>
          </a:p>
          <a:p>
            <a:pPr algn="just"/>
            <a:r>
              <a:rPr lang="en-US" sz="1000" b="1" dirty="0"/>
              <a:t>Result Achieved:</a:t>
            </a:r>
            <a:endParaRPr lang="en-US" sz="1000" dirty="0"/>
          </a:p>
          <a:p>
            <a:pPr algn="just"/>
            <a:r>
              <a:rPr lang="en-US" sz="1000" dirty="0"/>
              <a:t>Identified </a:t>
            </a:r>
            <a:r>
              <a:rPr lang="en-US" sz="1000" b="1" dirty="0"/>
              <a:t>salary disparities across roles and regions</a:t>
            </a:r>
            <a:r>
              <a:rPr lang="en-US" sz="1000" dirty="0"/>
              <a:t> </a:t>
            </a:r>
          </a:p>
          <a:p>
            <a:pPr algn="just"/>
            <a:r>
              <a:rPr lang="en-US" sz="1000" dirty="0"/>
              <a:t>Enabled </a:t>
            </a:r>
            <a:r>
              <a:rPr lang="en-US" sz="1000" b="1" dirty="0"/>
              <a:t>compensation benchmarking</a:t>
            </a:r>
            <a:r>
              <a:rPr lang="en-US" sz="10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746547-0B2E-E369-1AED-14B2F7AFEB6F}"/>
              </a:ext>
            </a:extLst>
          </p:cNvPr>
          <p:cNvSpPr txBox="1"/>
          <p:nvPr/>
        </p:nvSpPr>
        <p:spPr>
          <a:xfrm>
            <a:off x="6527605" y="2736820"/>
            <a:ext cx="2287211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Description:</a:t>
            </a:r>
            <a:endParaRPr lang="en-US" sz="1000" dirty="0"/>
          </a:p>
          <a:p>
            <a:r>
              <a:rPr lang="en-US" sz="1000" dirty="0"/>
              <a:t>Interactive model predicting salary based on: Company Rating and Company Age </a:t>
            </a:r>
          </a:p>
          <a:p>
            <a:r>
              <a:rPr lang="en-US" sz="1000" b="1" dirty="0"/>
              <a:t>Key Features:</a:t>
            </a:r>
            <a:endParaRPr lang="en-US" sz="1000" dirty="0"/>
          </a:p>
          <a:p>
            <a:r>
              <a:rPr lang="en-US" sz="1000" dirty="0"/>
              <a:t>What-if parameters </a:t>
            </a:r>
          </a:p>
          <a:p>
            <a:r>
              <a:rPr lang="en-US" sz="1000" dirty="0"/>
              <a:t>Dynamic salary output </a:t>
            </a:r>
          </a:p>
          <a:p>
            <a:r>
              <a:rPr lang="en-US" sz="1000" dirty="0"/>
              <a:t>Comparison with actual salary </a:t>
            </a:r>
          </a:p>
          <a:p>
            <a:r>
              <a:rPr lang="en-US" sz="1000" b="1" dirty="0"/>
              <a:t>Result Achieved:</a:t>
            </a:r>
            <a:endParaRPr lang="en-US" sz="1000" dirty="0"/>
          </a:p>
          <a:p>
            <a:r>
              <a:rPr lang="en-US" sz="1000" dirty="0"/>
              <a:t>Enabled </a:t>
            </a:r>
            <a:r>
              <a:rPr lang="en-US" sz="1000" b="1" dirty="0"/>
              <a:t>scenario-based decision-making</a:t>
            </a:r>
            <a:r>
              <a:rPr lang="en-US" sz="1000" dirty="0"/>
              <a:t> </a:t>
            </a:r>
          </a:p>
          <a:p>
            <a:r>
              <a:rPr lang="en-US" sz="1000" dirty="0"/>
              <a:t>Supported </a:t>
            </a:r>
            <a:r>
              <a:rPr lang="en-US" sz="1000" b="1" dirty="0"/>
              <a:t>HR compensation planning</a:t>
            </a:r>
            <a:endParaRPr lang="en-US" sz="1000" dirty="0"/>
          </a:p>
          <a:p>
            <a:endParaRPr lang="en-IN" dirty="0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01568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423379"/>
            <a:ext cx="8412480" cy="52484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571137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22376" y="567943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973836" y="579933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48740" y="555953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367028" y="550759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hlinkClick r:id="rId4"/>
              </a:rPr>
              <a:t>https://drive.google.com/file/d/1DiJiLFEGla6qFs8znknrmt70lVH1aiVa/view?usp=drive_link</a:t>
            </a:r>
            <a:r>
              <a:rPr lang="en-US" sz="900" dirty="0"/>
              <a:t> </a:t>
            </a:r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6783987" cy="34465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This project addressed the critical challenge of </a:t>
            </a:r>
            <a:r>
              <a:rPr lang="en-IN" sz="1200" b="1" dirty="0"/>
              <a:t>understanding job market dynamics and skill requirements in the data science domain</a:t>
            </a:r>
            <a:r>
              <a:rPr lang="en-IN" sz="1200" dirty="0"/>
              <a:t>, where rapid technological changes often create a gap between industry expectations and workforce readiness</a:t>
            </a:r>
          </a:p>
          <a:p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From a personal and academic perspective, this project was highly meaningful as it connects deeply with my background in </a:t>
            </a:r>
            <a:r>
              <a:rPr lang="en-IN" sz="1200" b="1" dirty="0"/>
              <a:t>political science and economics</a:t>
            </a:r>
            <a:r>
              <a:rPr lang="en-IN" sz="1200" dirty="0"/>
              <a:t>, where understanding </a:t>
            </a:r>
            <a:r>
              <a:rPr lang="en-IN" sz="1200" dirty="0" err="1"/>
              <a:t>labor</a:t>
            </a:r>
            <a:r>
              <a:rPr lang="en-IN" sz="1200" dirty="0"/>
              <a:t> markets and societal structures is essential.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Through this project, I gained:</a:t>
            </a:r>
          </a:p>
          <a:p>
            <a:pPr lvl="0"/>
            <a:r>
              <a:rPr lang="en-IN" sz="1200" dirty="0"/>
              <a:t>Practical experience in data analytics and visualization </a:t>
            </a:r>
          </a:p>
          <a:p>
            <a:pPr lvl="0"/>
            <a:r>
              <a:rPr lang="en-IN" sz="1200" dirty="0"/>
              <a:t>Hands-on exposure to AI integration in business workflows </a:t>
            </a:r>
          </a:p>
          <a:p>
            <a:pPr lvl="0"/>
            <a:r>
              <a:rPr lang="en-IN" sz="1200" dirty="0"/>
              <a:t>A deeper understanding of how data influences economic and organizational decision-making </a:t>
            </a:r>
          </a:p>
          <a:p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It also highlights the importance of </a:t>
            </a:r>
            <a:r>
              <a:rPr lang="en-IN" sz="1200" b="1" dirty="0"/>
              <a:t>data-driven approaches in shaping economic and workforce policies</a:t>
            </a:r>
            <a:r>
              <a:rPr lang="en-IN" sz="1200" dirty="0"/>
              <a:t>, aligning closely with modern industry trends in AI and analytics.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In conclusion, this project serves as a </a:t>
            </a:r>
            <a:r>
              <a:rPr lang="en-IN" sz="1200" b="1" dirty="0"/>
              <a:t>scalable and impactful model for intelligent job market analysis</a:t>
            </a:r>
            <a:r>
              <a:rPr lang="en-IN" sz="1200" dirty="0"/>
              <a:t>, demonstrating the potential of integrating analytics and AI to address real-world challenges and create meaningful societal and organizational impact</a:t>
            </a:r>
            <a:r>
              <a:rPr lang="en-IN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200" dirty="0"/>
          </a:p>
          <a:p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6605696" y="2571750"/>
            <a:ext cx="2352120" cy="216375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6" y="4106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6" y="726675"/>
            <a:ext cx="9020754" cy="3348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IN" sz="1200" b="1" dirty="0"/>
              <a:t>Integration of Real-Time Data Pipelines</a:t>
            </a:r>
            <a:endParaRPr lang="en-IN" sz="1200" dirty="0"/>
          </a:p>
          <a:p>
            <a:r>
              <a:rPr lang="en-IN" sz="1200" dirty="0"/>
              <a:t>Future versions can incorporate </a:t>
            </a:r>
            <a:r>
              <a:rPr lang="en-IN" sz="1200" b="1" dirty="0"/>
              <a:t>real-time job market data</a:t>
            </a:r>
            <a:r>
              <a:rPr lang="en-IN" sz="1200" dirty="0"/>
              <a:t> using: </a:t>
            </a:r>
          </a:p>
          <a:p>
            <a:pPr lvl="0"/>
            <a:r>
              <a:rPr lang="en-IN" sz="1200" dirty="0"/>
              <a:t>APIs (e.g., job portals like LinkedIn, Indeed), Automation tools such as Microsoft Power Automate</a:t>
            </a:r>
          </a:p>
          <a:p>
            <a:pPr lvl="0"/>
            <a:r>
              <a:rPr lang="en-IN" sz="1200" dirty="0"/>
              <a:t>This would enable </a:t>
            </a:r>
            <a:r>
              <a:rPr lang="en-IN" sz="1200" b="1" dirty="0"/>
              <a:t>live dashboards</a:t>
            </a:r>
            <a:r>
              <a:rPr lang="en-IN" sz="1200" dirty="0"/>
              <a:t> that reflect continuously evolving market trends. </a:t>
            </a:r>
          </a:p>
          <a:p>
            <a:r>
              <a:rPr lang="en-IN" sz="1200" b="1" dirty="0"/>
              <a:t>2. Implementation of Machine Learning Models</a:t>
            </a:r>
            <a:endParaRPr lang="en-IN" sz="1200" dirty="0"/>
          </a:p>
          <a:p>
            <a:pPr lvl="0"/>
            <a:r>
              <a:rPr lang="en-IN" sz="1200" dirty="0"/>
              <a:t>This would transition the project from </a:t>
            </a:r>
            <a:r>
              <a:rPr lang="en-IN" sz="1200" b="1" dirty="0"/>
              <a:t>descriptive analytics to predictive intelligence</a:t>
            </a:r>
            <a:r>
              <a:rPr lang="en-IN" sz="1200" dirty="0"/>
              <a:t>. </a:t>
            </a:r>
          </a:p>
          <a:p>
            <a:r>
              <a:rPr lang="en-IN" sz="1200" b="1" dirty="0"/>
              <a:t>3. Development of a User-Friendly Application Interface</a:t>
            </a:r>
            <a:endParaRPr lang="en-IN" sz="1200" dirty="0"/>
          </a:p>
          <a:p>
            <a:r>
              <a:rPr lang="en-IN" sz="1200" dirty="0"/>
              <a:t>A no-code/low-code application using Microsoft Power Apps can be developed to- Allow users to interact with insights easily </a:t>
            </a:r>
          </a:p>
          <a:p>
            <a:pPr lvl="0"/>
            <a:r>
              <a:rPr lang="en-IN" sz="1200" dirty="0"/>
              <a:t>Enable recruiters or students to query job trends dynamically </a:t>
            </a:r>
          </a:p>
          <a:p>
            <a:pPr lvl="0"/>
            <a:r>
              <a:rPr lang="en-IN" sz="1200" dirty="0"/>
              <a:t>This enhances </a:t>
            </a:r>
            <a:r>
              <a:rPr lang="en-IN" sz="1200" b="1" dirty="0"/>
              <a:t>accessibility for non-technical users</a:t>
            </a:r>
            <a:r>
              <a:rPr lang="en-IN" sz="1200" dirty="0"/>
              <a:t>. </a:t>
            </a:r>
          </a:p>
          <a:p>
            <a:r>
              <a:rPr lang="en-IN" sz="1200" b="1" dirty="0"/>
              <a:t>4. Expansion of Dataset Diversity</a:t>
            </a:r>
            <a:endParaRPr lang="en-IN" sz="1200" dirty="0"/>
          </a:p>
          <a:p>
            <a:r>
              <a:rPr lang="en-IN" sz="1200" dirty="0"/>
              <a:t>Future work can include- Multi-country job market data, Industry-specific datasets, Educational and skill certification data </a:t>
            </a:r>
          </a:p>
          <a:p>
            <a:pPr lvl="0"/>
            <a:r>
              <a:rPr lang="en-IN" sz="1200" dirty="0"/>
              <a:t>This would improve </a:t>
            </a:r>
            <a:r>
              <a:rPr lang="en-IN" sz="1200" b="1" dirty="0"/>
              <a:t>generalizability and depth of analysis</a:t>
            </a:r>
            <a:r>
              <a:rPr lang="en-IN" sz="1200" dirty="0"/>
              <a:t>. </a:t>
            </a:r>
          </a:p>
          <a:p>
            <a:r>
              <a:rPr lang="en-IN" sz="1200" b="1" dirty="0"/>
              <a:t>5. Development of a Standardized AI Prompt Library</a:t>
            </a:r>
            <a:endParaRPr lang="en-IN" sz="1200" dirty="0"/>
          </a:p>
          <a:p>
            <a:r>
              <a:rPr lang="en-IN" sz="1200" dirty="0"/>
              <a:t>Creating a structured prompt repository for tools like Microsoft Copilot Studio would- Ensure consistent and accurate outputs, Reduce dependency on manual prompt engineering </a:t>
            </a:r>
          </a:p>
          <a:p>
            <a:pPr lvl="0"/>
            <a:r>
              <a:rPr lang="en-IN" sz="1200" dirty="0"/>
              <a:t>This contributes to </a:t>
            </a:r>
            <a:r>
              <a:rPr lang="en-IN" sz="1200" b="1" dirty="0"/>
              <a:t>scalable AI adoption in analytics workflows</a:t>
            </a:r>
            <a:r>
              <a:rPr lang="en-IN" sz="1200" dirty="0"/>
              <a:t>. </a:t>
            </a:r>
          </a:p>
          <a:p>
            <a:r>
              <a:rPr lang="en-IN" sz="1200" b="1" dirty="0"/>
              <a:t>6. Enhanced Skill Gap Analysis Module</a:t>
            </a:r>
            <a:endParaRPr lang="en-IN" sz="1200" dirty="0"/>
          </a:p>
          <a:p>
            <a:r>
              <a:rPr lang="en-IN" sz="1200" dirty="0"/>
              <a:t>A dedicated module can be built to- Compare required vs. available skills, Recommend personalized learning paths </a:t>
            </a:r>
          </a:p>
          <a:p>
            <a:pPr lvl="0"/>
            <a:r>
              <a:rPr lang="en-IN" sz="1200" dirty="0"/>
              <a:t>This directly supports </a:t>
            </a:r>
            <a:r>
              <a:rPr lang="en-IN" sz="1200" b="1" dirty="0"/>
              <a:t>students, job seekers, and training institutions</a:t>
            </a:r>
            <a:r>
              <a:rPr lang="en-IN" sz="1200" dirty="0"/>
              <a:t>. </a:t>
            </a:r>
          </a:p>
          <a:p>
            <a:r>
              <a:rPr lang="en-IN" sz="1200" b="1" dirty="0"/>
              <a:t>7. Integration with Organizational Decision Systems</a:t>
            </a:r>
            <a:endParaRPr lang="en-IN" sz="1200" dirty="0"/>
          </a:p>
          <a:p>
            <a:r>
              <a:rPr lang="en-IN" sz="1200" dirty="0"/>
              <a:t>The system can be extended for enterprise use by- Integrating with HR analytics tools, Supporting workforce planning and hiring strategies </a:t>
            </a:r>
          </a:p>
          <a:p>
            <a:pPr lvl="0"/>
            <a:r>
              <a:rPr lang="en-IN" sz="1200" dirty="0"/>
              <a:t>This would increase its </a:t>
            </a:r>
            <a:r>
              <a:rPr lang="en-IN" sz="1200" b="1" dirty="0"/>
              <a:t>practical business value</a:t>
            </a:r>
            <a:r>
              <a:rPr lang="en-IN" sz="1200" dirty="0"/>
              <a:t>. </a:t>
            </a:r>
          </a:p>
          <a:p>
            <a:r>
              <a:rPr lang="en-US" b="1" dirty="0"/>
              <a:t> </a:t>
            </a:r>
            <a:endParaRPr lang="en-IN" dirty="0"/>
          </a:p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476" y="426841"/>
            <a:ext cx="1668352" cy="125126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1898</TotalTime>
  <Words>1336</Words>
  <Application>Microsoft Office PowerPoint</Application>
  <PresentationFormat>On-screen Show (16:9)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Suhabi Sen</cp:lastModifiedBy>
  <cp:revision>27</cp:revision>
  <dcterms:created xsi:type="dcterms:W3CDTF">2026-02-18T09:17:23Z</dcterms:created>
  <dcterms:modified xsi:type="dcterms:W3CDTF">2026-04-12T17:20:02Z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